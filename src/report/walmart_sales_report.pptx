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5" r:id="rId6"/>
    <p:sldId id="266" r:id="rId7"/>
    <p:sldId id="267" r:id="rId8"/>
    <p:sldId id="260" r:id="rId9"/>
    <p:sldId id="279" r:id="rId10"/>
    <p:sldId id="280" r:id="rId11"/>
    <p:sldId id="268" r:id="rId12"/>
    <p:sldId id="282" r:id="rId13"/>
    <p:sldId id="287" r:id="rId14"/>
    <p:sldId id="269" r:id="rId15"/>
    <p:sldId id="283" r:id="rId16"/>
    <p:sldId id="288" r:id="rId17"/>
    <p:sldId id="262" r:id="rId18"/>
    <p:sldId id="270" r:id="rId19"/>
    <p:sldId id="281" r:id="rId20"/>
    <p:sldId id="284" r:id="rId21"/>
    <p:sldId id="289" r:id="rId22"/>
    <p:sldId id="271" r:id="rId23"/>
    <p:sldId id="285" r:id="rId24"/>
    <p:sldId id="286" r:id="rId25"/>
    <p:sldId id="290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91" r:id="rId34"/>
    <p:sldId id="292" r:id="rId35"/>
    <p:sldId id="263" r:id="rId36"/>
    <p:sldId id="293" r:id="rId37"/>
    <p:sldId id="294" r:id="rId38"/>
    <p:sldId id="295" r:id="rId39"/>
    <p:sldId id="296" r:id="rId40"/>
    <p:sldId id="264" r:id="rId41"/>
    <p:sldId id="297" r:id="rId42"/>
    <p:sldId id="298" r:id="rId43"/>
  </p:sldIdLst>
  <p:sldSz cx="9144000" cy="5143500" type="screen16x9"/>
  <p:notesSz cx="6858000" cy="9144000"/>
  <p:embeddedFontLst>
    <p:embeddedFont>
      <p:font typeface="Average" panose="020B0604020202020204" charset="0"/>
      <p:regular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44FD5A-4953-40F5-AF68-53361CCE8E96}" v="1" dt="2026-02-08T05:54:48.8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21" autoAdjust="0"/>
    <p:restoredTop sz="94660"/>
  </p:normalViewPr>
  <p:slideViewPr>
    <p:cSldViewPr snapToGrid="0">
      <p:cViewPr varScale="1">
        <p:scale>
          <a:sx n="97" d="100"/>
          <a:sy n="97" d="100"/>
        </p:scale>
        <p:origin x="51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12.xml" Id="rId13" /><Relationship Type="http://schemas.openxmlformats.org/officeDocument/2006/relationships/slide" Target="slides/slide17.xml" Id="rId18" /><Relationship Type="http://schemas.openxmlformats.org/officeDocument/2006/relationships/slide" Target="slides/slide25.xml" Id="rId26" /><Relationship Type="http://schemas.openxmlformats.org/officeDocument/2006/relationships/slide" Target="slides/slide38.xml" Id="rId39" /><Relationship Type="http://schemas.openxmlformats.org/officeDocument/2006/relationships/slide" Target="slides/slide20.xml" Id="rId21" /><Relationship Type="http://schemas.openxmlformats.org/officeDocument/2006/relationships/slide" Target="slides/slide33.xml" Id="rId34" /><Relationship Type="http://schemas.openxmlformats.org/officeDocument/2006/relationships/slide" Target="slides/slide41.xml" Id="rId42" /><Relationship Type="http://schemas.openxmlformats.org/officeDocument/2006/relationships/viewProps" Target="viewProps.xml" Id="rId47" /><Relationship Type="http://schemas.openxmlformats.org/officeDocument/2006/relationships/slide" Target="slides/slide6.xml" Id="rId7" /><Relationship Type="http://schemas.openxmlformats.org/officeDocument/2006/relationships/slide" Target="slides/slide1.xml" Id="rId2" /><Relationship Type="http://schemas.openxmlformats.org/officeDocument/2006/relationships/slide" Target="slides/slide15.xml" Id="rId16" /><Relationship Type="http://schemas.openxmlformats.org/officeDocument/2006/relationships/slide" Target="slides/slide28.xml" Id="rId29" /><Relationship Type="http://schemas.openxmlformats.org/officeDocument/2006/relationships/slide" Target="slides/slide10.xml" Id="rId11" /><Relationship Type="http://schemas.openxmlformats.org/officeDocument/2006/relationships/slide" Target="slides/slide23.xml" Id="rId24" /><Relationship Type="http://schemas.openxmlformats.org/officeDocument/2006/relationships/slide" Target="slides/slide31.xml" Id="rId32" /><Relationship Type="http://schemas.openxmlformats.org/officeDocument/2006/relationships/slide" Target="slides/slide36.xml" Id="rId37" /><Relationship Type="http://schemas.openxmlformats.org/officeDocument/2006/relationships/slide" Target="slides/slide39.xml" Id="rId40" /><Relationship Type="http://schemas.openxmlformats.org/officeDocument/2006/relationships/font" Target="fonts/font1.fntdata" Id="rId45" /><Relationship Type="http://schemas.openxmlformats.org/officeDocument/2006/relationships/slide" Target="slides/slide4.xml" Id="rId5" /><Relationship Type="http://schemas.openxmlformats.org/officeDocument/2006/relationships/slide" Target="slides/slide14.xml" Id="rId15" /><Relationship Type="http://schemas.openxmlformats.org/officeDocument/2006/relationships/slide" Target="slides/slide22.xml" Id="rId23" /><Relationship Type="http://schemas.openxmlformats.org/officeDocument/2006/relationships/slide" Target="slides/slide27.xml" Id="rId28" /><Relationship Type="http://schemas.openxmlformats.org/officeDocument/2006/relationships/slide" Target="slides/slide35.xml" Id="rId36" /><Relationship Type="http://schemas.openxmlformats.org/officeDocument/2006/relationships/tableStyles" Target="tableStyles.xml" Id="rId49" /><Relationship Type="http://schemas.openxmlformats.org/officeDocument/2006/relationships/slide" Target="slides/slide9.xml" Id="rId10" /><Relationship Type="http://schemas.openxmlformats.org/officeDocument/2006/relationships/slide" Target="slides/slide18.xml" Id="rId19" /><Relationship Type="http://schemas.openxmlformats.org/officeDocument/2006/relationships/slide" Target="slides/slide30.xml" Id="rId31" /><Relationship Type="http://schemas.openxmlformats.org/officeDocument/2006/relationships/notesMaster" Target="notesMasters/notesMaster1.xml" Id="rId44" /><Relationship Type="http://schemas.openxmlformats.org/officeDocument/2006/relationships/slide" Target="slides/slide3.xml" Id="rId4" /><Relationship Type="http://schemas.openxmlformats.org/officeDocument/2006/relationships/slide" Target="slides/slide8.xml" Id="rId9" /><Relationship Type="http://schemas.openxmlformats.org/officeDocument/2006/relationships/slide" Target="slides/slide13.xml" Id="rId14" /><Relationship Type="http://schemas.openxmlformats.org/officeDocument/2006/relationships/slide" Target="slides/slide21.xml" Id="rId22" /><Relationship Type="http://schemas.openxmlformats.org/officeDocument/2006/relationships/slide" Target="slides/slide26.xml" Id="rId27" /><Relationship Type="http://schemas.openxmlformats.org/officeDocument/2006/relationships/slide" Target="slides/slide29.xml" Id="rId30" /><Relationship Type="http://schemas.openxmlformats.org/officeDocument/2006/relationships/slide" Target="slides/slide34.xml" Id="rId35" /><Relationship Type="http://schemas.openxmlformats.org/officeDocument/2006/relationships/slide" Target="slides/slide42.xml" Id="rId43" /><Relationship Type="http://schemas.openxmlformats.org/officeDocument/2006/relationships/theme" Target="theme/theme1.xml" Id="rId48" /><Relationship Type="http://schemas.openxmlformats.org/officeDocument/2006/relationships/slide" Target="slides/slide7.xml" Id="rId8" /><Relationship Type="http://schemas.microsoft.com/office/2015/10/relationships/revisionInfo" Target="revisionInfo.xml" Id="rId51" /><Relationship Type="http://schemas.openxmlformats.org/officeDocument/2006/relationships/slide" Target="slides/slide2.xml" Id="rId3" /><Relationship Type="http://schemas.openxmlformats.org/officeDocument/2006/relationships/slide" Target="slides/slide11.xml" Id="rId12" /><Relationship Type="http://schemas.openxmlformats.org/officeDocument/2006/relationships/slide" Target="slides/slide16.xml" Id="rId17" /><Relationship Type="http://schemas.openxmlformats.org/officeDocument/2006/relationships/slide" Target="slides/slide24.xml" Id="rId25" /><Relationship Type="http://schemas.openxmlformats.org/officeDocument/2006/relationships/slide" Target="slides/slide32.xml" Id="rId33" /><Relationship Type="http://schemas.openxmlformats.org/officeDocument/2006/relationships/slide" Target="slides/slide37.xml" Id="rId38" /><Relationship Type="http://schemas.openxmlformats.org/officeDocument/2006/relationships/presProps" Target="presProps.xml" Id="rId46" /><Relationship Type="http://schemas.openxmlformats.org/officeDocument/2006/relationships/slide" Target="slides/slide19.xml" Id="rId20" /><Relationship Type="http://schemas.openxmlformats.org/officeDocument/2006/relationships/slide" Target="slides/slide40.xml" Id="rId41" /><Relationship Type="http://schemas.openxmlformats.org/officeDocument/2006/relationships/slideMaster" Target="slideMasters/slideMaster1.xml" Id="rId1" /><Relationship Type="http://schemas.openxmlformats.org/officeDocument/2006/relationships/slide" Target="slides/slide5.xml" Id="rId6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584932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17278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1e07b126a5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1e07b126a5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62682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001ae722bc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001ae722bc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4415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01ae722bc_0_4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001ae722bc_0_4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71947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01ae722bc_0_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001ae722bc_0_4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790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001ae722bc_0_4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001ae722bc_0_4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6557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001ae722bc_0_5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001ae722bc_0_5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50484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001ae722bc_0_5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001ae722bc_0_5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4362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idx="1"/>
          </p:nvPr>
        </p:nvSpPr>
        <p:spPr>
          <a:xfrm>
            <a:off x="1601418" y="1704606"/>
            <a:ext cx="5998800" cy="605100"/>
          </a:xfrm>
        </p:spPr>
        <p:txBody>
          <a:bodyPr>
            <a:noAutofit/>
          </a:bodyPr>
          <a:lstStyle/>
          <a:p>
            <a:r>
              <a:rPr lang="ru-RU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Выполнил:</a:t>
            </a:r>
            <a:r>
              <a:rPr lang="ru-RU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Диёр Исамухамедов.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ctrTitle" idx="4294967295"/>
          </p:nvPr>
        </p:nvSpPr>
        <p:spPr>
          <a:xfrm>
            <a:off x="311700" y="357188"/>
            <a:ext cx="7988300" cy="90011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ru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Кейс </a:t>
            </a:r>
            <a:r>
              <a:rPr lang="ru-RU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№ 2. </a:t>
            </a:r>
            <a:r>
              <a:rPr lang="ru-RU" sz="2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</a:t>
            </a:r>
            <a:r>
              <a:rPr lang="ru-RU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</a:t>
            </a:r>
            <a:endParaRPr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Контекст кейса</a:t>
            </a:r>
            <a:endParaRPr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158075"/>
            <a:ext cx="71430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ru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Расскажите в паре предложений, какой кейс вам достался и что нужно было сделать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Мне достался кейс № 2. Кейс про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крупного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ритейлера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в мире </a:t>
            </a:r>
            <a:r>
              <a:rPr lang="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«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</a:t>
            </a:r>
            <a:r>
              <a:rPr lang="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».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Нужно было исследовать, как макроэкономические и сезонные факторы влияют на доход компании. А также разработать рекомендации для адаптации стратегии продаж в зависимости от внешних факторов.</a:t>
            </a:r>
            <a:endParaRPr lang="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Задачи, которые вы решали</a:t>
            </a:r>
            <a:endParaRPr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20541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Подготовка данных</a:t>
            </a:r>
            <a:endParaRPr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Провести предобработку данных с целью максимальной очистки данных во избежание искажения результатов исследования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645350" y="1559175"/>
            <a:ext cx="21897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Исследовательский анализ</a:t>
            </a:r>
            <a:endParaRPr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Провести исследовательский анализ данных и построить необходимые графики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>
            <a:off x="6236150" y="1559175"/>
            <a:ext cx="21897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Бизнес-вопрос</a:t>
            </a:r>
            <a:br>
              <a:rPr lang="ru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Ответить на запрос со стороны бизнеса, используя имеющиеся данные о компании/ ситуации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483476" y="0"/>
            <a:ext cx="8348824" cy="376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Подготовка данных </a:t>
            </a:r>
            <a:endParaRPr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311700" y="513693"/>
            <a:ext cx="8520600" cy="15029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 sz="14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Какие данные получили</a:t>
            </a:r>
            <a:endParaRPr sz="1400" b="1" dirty="0">
              <a:solidFill>
                <a:schemeClr val="accent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 sz="14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Как проводили предобработку и какие именно действия предприняли</a:t>
            </a:r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lvl="0" indent="0">
              <a:buNone/>
            </a:pPr>
            <a:r>
              <a:rPr lang="ru-RU" sz="14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ru-RU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Я получил файл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</a:t>
            </a:r>
            <a:r>
              <a:rPr lang="ru-RU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_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Sales.csv. </a:t>
            </a:r>
            <a:r>
              <a:rPr lang="ru-RU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Этот </a:t>
            </a:r>
            <a:r>
              <a:rPr lang="ru-RU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файл содержит информацию о недельных продажах сети </a:t>
            </a:r>
            <a:r>
              <a:rPr lang="ru-RU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</a:t>
            </a:r>
            <a:r>
              <a:rPr lang="ru-RU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с макроэкономическими и региональными признаками.</a:t>
            </a:r>
            <a:r>
              <a:rPr lang="ru-RU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14300" indent="0">
              <a:buNone/>
            </a:pPr>
            <a:r>
              <a:rPr lang="ru-RU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Описание данных (признаков):</a:t>
            </a:r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endParaRPr lang="en-US" b="1" dirty="0">
              <a:solidFill>
                <a:schemeClr val="accent5"/>
              </a:solidFill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989575"/>
              </p:ext>
            </p:extLst>
          </p:nvPr>
        </p:nvGraphicFramePr>
        <p:xfrm>
          <a:off x="311700" y="1836682"/>
          <a:ext cx="8681544" cy="3306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0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0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441">
                <a:tc>
                  <a:txBody>
                    <a:bodyPr/>
                    <a:lstStyle/>
                    <a:p>
                      <a:pPr algn="ctr"/>
                      <a:r>
                        <a:rPr lang="az-Cyrl-AZ" sz="1400" b="1" i="0" u="none" strike="noStrike" cap="none" dirty="0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Признак</a:t>
                      </a:r>
                      <a:endParaRPr lang="en-US" sz="1400" b="1" i="0" u="none" strike="noStrike" cap="none" dirty="0">
                        <a:solidFill>
                          <a:schemeClr val="accent5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Cyrl-AZ" sz="1400" b="1" i="0" u="none" strike="noStrike" cap="none" dirty="0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Описание</a:t>
                      </a:r>
                      <a:endParaRPr lang="en-US" sz="1400" b="1" i="0" u="none" strike="noStrike" cap="none" dirty="0">
                        <a:solidFill>
                          <a:schemeClr val="accent5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44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Cyrl-AZ" sz="1400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Номер магазина</a:t>
                      </a:r>
                      <a:endParaRPr lang="en-US" sz="1400" b="1" i="0" u="none" strike="noStrike" cap="none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441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Cyrl-AZ" sz="1400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Дата начала недели продаж</a:t>
                      </a:r>
                      <a:endParaRPr lang="en-US" sz="1400" b="1" i="0" u="none" strike="noStrike" cap="none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441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cap="none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weekly_sales</a:t>
                      </a:r>
                      <a:endParaRPr lang="en-US" sz="1400" b="1" i="0" u="none" strike="noStrike" cap="none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Cyrl-AZ" sz="1400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Суммарные продажи за неделю</a:t>
                      </a:r>
                      <a:endParaRPr lang="en-US" sz="1400" b="1" i="0" u="none" strike="noStrike" cap="none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258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cap="none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holiday_flag</a:t>
                      </a:r>
                      <a:endParaRPr lang="en-US" sz="1400" b="1" i="0" u="none" strike="noStrike" cap="none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Флаг праздничной недели (1 — да, 0 — нет)</a:t>
                      </a:r>
                      <a:endParaRPr lang="en-US" sz="1400" b="1" i="0" u="none" strike="noStrike" cap="none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441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Cyrl-AZ" sz="1400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Средняя температура в регионе</a:t>
                      </a:r>
                      <a:endParaRPr lang="en-US" sz="1400" b="1" i="0" u="none" strike="noStrike" cap="none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441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cap="none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fuel_price</a:t>
                      </a:r>
                      <a:endParaRPr lang="en-US" sz="1400" b="1" i="0" u="none" strike="noStrike" cap="none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Cyrl-AZ" sz="1400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Стоимость топлива</a:t>
                      </a:r>
                      <a:endParaRPr lang="en-US" sz="1400" b="1" i="0" u="none" strike="noStrike" cap="none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441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cap="none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cpi</a:t>
                      </a:r>
                      <a:endParaRPr lang="en-US" sz="1400" b="1" i="0" u="none" strike="noStrike" cap="none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Cyrl-AZ" sz="1400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Индекс потребительских цен</a:t>
                      </a:r>
                      <a:endParaRPr lang="en-US" sz="1400" b="1" i="0" u="none" strike="noStrike" cap="none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7441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unemployment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Cyrl-AZ" sz="1400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Уровень безработицы в регионе</a:t>
                      </a:r>
                      <a:endParaRPr lang="en-US" sz="1400" b="1" i="0" u="none" strike="noStrike" cap="none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Unnamed: 0 / Column1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Техническая колонка, не несущая смысловой нагрузки</a:t>
                      </a:r>
                      <a:endParaRPr lang="en-US" sz="1400" b="1" i="0" u="none" strike="noStrike" cap="none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311700" y="3079531"/>
            <a:ext cx="8832300" cy="1944414"/>
          </a:xfrm>
        </p:spPr>
        <p:txBody>
          <a:bodyPr>
            <a:normAutofit fontScale="90000"/>
          </a:bodyPr>
          <a:lstStyle/>
          <a:p>
            <a:pPr algn="l"/>
            <a:r>
              <a:rPr lang="ru-RU" sz="18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2. </a:t>
            </a:r>
            <a:r>
              <a:rPr lang="ru-RU" sz="18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rage"/>
              </a:rPr>
              <a:t>Данные из walmart_sales.csv были успешно импортированы в таблицу</a:t>
            </a:r>
            <a:r>
              <a:rPr lang="en-US" sz="18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rage"/>
              </a:rPr>
              <a:t> </a:t>
            </a:r>
            <a:r>
              <a:rPr lang="ru-RU" sz="1800" dirty="0" err="1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rage"/>
              </a:rPr>
              <a:t>cleaned_walmart_sales</a:t>
            </a:r>
            <a:r>
              <a:rPr lang="ru-RU" sz="18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rage"/>
              </a:rPr>
              <a:t>.</a:t>
            </a:r>
            <a:br>
              <a:rPr lang="en-US" sz="18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rage"/>
              </a:rPr>
            </a:br>
            <a:r>
              <a:rPr lang="ru-RU" sz="18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rage"/>
              </a:rPr>
              <a:t>3. В таблице добавлено поле</a:t>
            </a:r>
            <a:r>
              <a:rPr lang="en-US" sz="18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rage"/>
              </a:rPr>
              <a:t> id SERIAL PRIMARY KEY</a:t>
            </a:r>
            <a:r>
              <a:rPr lang="ru-RU" sz="18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rage"/>
              </a:rPr>
              <a:t> для </a:t>
            </a:r>
            <a:r>
              <a:rPr lang="ru-RU" sz="1800" dirty="0" err="1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rage"/>
              </a:rPr>
              <a:t>feature</a:t>
            </a:r>
            <a:r>
              <a:rPr lang="ru-RU" sz="18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rage"/>
              </a:rPr>
              <a:t> </a:t>
            </a:r>
            <a:r>
              <a:rPr lang="ru-RU" sz="1800" dirty="0" err="1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rage"/>
              </a:rPr>
              <a:t>engineering</a:t>
            </a:r>
            <a:r>
              <a:rPr lang="ru-RU" sz="18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rage"/>
              </a:rPr>
              <a:t> в дальнейшей обработке в </a:t>
            </a:r>
            <a:r>
              <a:rPr lang="en-US" sz="18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rage"/>
              </a:rPr>
              <a:t>Pandas.</a:t>
            </a:r>
            <a:br>
              <a:rPr lang="en-US" sz="18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rage"/>
              </a:rPr>
            </a:br>
            <a:r>
              <a:rPr lang="ru-RU" sz="18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rage"/>
              </a:rPr>
              <a:t>4. Таблица приведена к первой и второй нормальным формам (</a:t>
            </a:r>
            <a:r>
              <a:rPr lang="en-US" sz="18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rage"/>
              </a:rPr>
              <a:t>1NF, 2NF</a:t>
            </a:r>
            <a:r>
              <a:rPr lang="ru-RU" sz="18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rage"/>
              </a:rPr>
              <a:t>)</a:t>
            </a:r>
            <a:r>
              <a:rPr lang="en-US" sz="18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rage"/>
              </a:rPr>
              <a:t>:</a:t>
            </a:r>
            <a:r>
              <a:rPr lang="ru-RU" sz="18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rage"/>
              </a:rPr>
              <a:t> все значения </a:t>
            </a:r>
            <a:r>
              <a:rPr lang="ru-RU" sz="1800" dirty="0" err="1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rage"/>
              </a:rPr>
              <a:t>атомарны</a:t>
            </a:r>
            <a:r>
              <a:rPr lang="ru-RU" sz="18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rage"/>
              </a:rPr>
              <a:t>, зависимости от составных ключей отсутствуют.</a:t>
            </a:r>
            <a:br>
              <a:rPr lang="en-US" sz="18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rage"/>
              </a:rPr>
            </a:br>
            <a:r>
              <a:rPr lang="ru-RU" sz="18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rage"/>
              </a:rPr>
              <a:t>5. Выполнена проверка на дубликаты по полям </a:t>
            </a:r>
            <a:r>
              <a:rPr lang="en-US" sz="18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rage"/>
              </a:rPr>
              <a:t>store </a:t>
            </a:r>
            <a:r>
              <a:rPr lang="ru-RU" sz="18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rage"/>
              </a:rPr>
              <a:t>и</a:t>
            </a:r>
            <a:r>
              <a:rPr lang="en-US" sz="18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rage"/>
              </a:rPr>
              <a:t> date</a:t>
            </a:r>
            <a:r>
              <a:rPr lang="ru-RU" sz="18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rage"/>
              </a:rPr>
              <a:t>. В случае наличия – дубликаты удалены с сохранением уникальности данных, чтобы избежать искажения при аналитике и визуализации</a:t>
            </a:r>
            <a:r>
              <a:rPr lang="en-US" sz="18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rage"/>
              </a:rPr>
              <a:t>.</a:t>
            </a:r>
            <a:br>
              <a:rPr lang="en-US" sz="1400" dirty="0"/>
            </a:br>
            <a:endParaRPr lang="en-US" sz="140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11700" y="246221"/>
            <a:ext cx="871668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В СУБД PostgreSQL (в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схеме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final_project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)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была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создана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таблица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cleaned_walmart_sales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, в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которую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 </a:t>
            </a:r>
            <a:r>
              <a:rPr lang="ru-RU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были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загружены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данные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из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исходного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файла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 walmart_sales.csv. </a:t>
            </a:r>
            <a:endParaRPr lang="ru-RU" alt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Oswald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      При этом: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Исключена техническая колонка 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Unnamed: 0 / Column1,</a:t>
            </a:r>
            <a:r>
              <a:rPr lang="ru-RU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 не содержащая аналитической информации.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Для всех полей применён единый стиль наименования – </a:t>
            </a:r>
            <a:r>
              <a:rPr lang="en-US" alt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lower_snake_case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swald"/>
              </a:rPr>
              <a:t>Типы данных приведены в соответствии с их семантикой. Пример:</a:t>
            </a: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341533"/>
              </p:ext>
            </p:extLst>
          </p:nvPr>
        </p:nvGraphicFramePr>
        <p:xfrm>
          <a:off x="896827" y="2062103"/>
          <a:ext cx="7546432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6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6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66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6486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accent5"/>
                          </a:solidFill>
                        </a:rPr>
                        <a:t>Старое название</a:t>
                      </a:r>
                      <a:endParaRPr lang="en-US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accent5"/>
                          </a:solidFill>
                        </a:rPr>
                        <a:t>Новое название</a:t>
                      </a:r>
                      <a:endParaRPr lang="en-US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accent5"/>
                          </a:solidFill>
                        </a:rPr>
                        <a:t>Типы данных в </a:t>
                      </a:r>
                      <a:r>
                        <a:rPr lang="en-US" b="1" dirty="0">
                          <a:solidFill>
                            <a:schemeClr val="accent5"/>
                          </a:solidFill>
                        </a:rPr>
                        <a:t>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accent5"/>
                          </a:solidFill>
                        </a:rPr>
                        <a:t>Типы данных в таблице</a:t>
                      </a:r>
                      <a:endParaRPr lang="en-US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404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строка</a:t>
                      </a:r>
                      <a:endParaRPr lang="en-US" sz="1400" b="1" i="0" u="none" strike="noStrike" cap="none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297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idx="1"/>
          </p:nvPr>
        </p:nvSpPr>
        <p:spPr>
          <a:xfrm>
            <a:off x="311700" y="0"/>
            <a:ext cx="8520600" cy="5143499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Проверка наличия пропущенных значений.</a:t>
            </a:r>
          </a:p>
          <a:p>
            <a:pPr marL="114300" indent="0"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Для всех колонок таблицы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cleaned_walmart_sales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была проведена         диагностика пропущенных значений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(NULL)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В результате установлено, что во всех полях отсутствуют пропуски, и данные являются полными, что упрощает последующую аналитику. </a:t>
            </a:r>
          </a:p>
          <a:p>
            <a:pPr marL="114300" indent="0">
              <a:buNone/>
            </a:pPr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Проверка диапазонов и выявление аномалий.</a:t>
            </a:r>
          </a:p>
          <a:p>
            <a:pPr marL="114300" indent="0"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Выполнена проверка минимальных, максимальных и средних значений по числовым признакам (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weekly_sales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temperature,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fuel_price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unemployment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Это позволило: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Выявить возможные отрицательные значения, если они противоречат логике признака.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Определить наличие аномально низких или нулевых значений, которые могли бы искажать тренды.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Оценить экстремальные выбросы, которые при необходимости могут быть исключены или обработаны в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14300" indent="0"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 </a:t>
            </a:r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Проанализированы категориальные признаки: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store: </a:t>
            </a:r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45 уникальных магазинов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holiday_flag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значения строго 0 и 1 — категориально корректны.</a:t>
            </a:r>
          </a:p>
          <a:p>
            <a:pPr marL="114300" indent="0"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Эта информация пригодится при агрегации и группировке данных.</a:t>
            </a:r>
          </a:p>
          <a:p>
            <a:pPr marL="114300" indent="0"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9. </a:t>
            </a:r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Проверка временного охвата данных.</a:t>
            </a:r>
          </a:p>
          <a:p>
            <a:pPr marL="11430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6463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/>
          <p:cNvSpPr>
            <a:spLocks noGrp="1"/>
          </p:cNvSpPr>
          <p:nvPr>
            <p:ph type="body" idx="1"/>
          </p:nvPr>
        </p:nvSpPr>
        <p:spPr>
          <a:xfrm>
            <a:off x="164555" y="143482"/>
            <a:ext cx="8520600" cy="3416400"/>
          </a:xfrm>
        </p:spPr>
        <p:txBody>
          <a:bodyPr/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 помощью функции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MIN(date)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MAX(date)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было установлено, что временной диапазон охватывает период с февраля 2010 года по октябрь 2012 года.</a:t>
            </a:r>
          </a:p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Всего в таблице содержится 143 уникальных недели, что соответствует почти трём полным годам (2.7 года) наблюдений.</a:t>
            </a:r>
          </a:p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Это обеспечивает достаточную основу для сезонного и годового анализа динамики продаж.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843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Исследовательский анализ</a:t>
            </a:r>
            <a:endParaRPr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927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>
              <a:buNone/>
            </a:pPr>
            <a:r>
              <a:rPr lang="ru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Вопросы по кейсу</a:t>
            </a:r>
            <a:endParaRPr b="1" dirty="0">
              <a:solidFill>
                <a:schemeClr val="accent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lvl="0" indent="0">
              <a:buNone/>
            </a:pPr>
            <a:r>
              <a:rPr lang="ru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Что делали и почему именно такой порядок действий выполняли?</a:t>
            </a:r>
            <a:endParaRPr b="1" dirty="0">
              <a:solidFill>
                <a:schemeClr val="accent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lvl="0" indent="0">
              <a:buNone/>
            </a:pPr>
            <a:r>
              <a:rPr lang="ru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Какой получили результат?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ru" sz="1500" b="1" dirty="0">
              <a:solidFill>
                <a:schemeClr val="accent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az-Cyrl-AZ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Исследовательский анализ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11699" y="1017725"/>
            <a:ext cx="8635655" cy="405572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az-Cyrl-AZ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Вопрос</a:t>
            </a:r>
            <a:r>
              <a:rPr lang="ru-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ы</a:t>
            </a:r>
            <a:r>
              <a:rPr lang="az-Cyrl-AZ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по кейсу: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Определите, как меняется объём продаж в зависимости от праздников и времени года</a:t>
            </a:r>
          </a:p>
          <a:p>
            <a:pPr marL="11430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Постройте визуализацию, демонстрирующую динамику понедельных продаж по сети за год</a:t>
            </a:r>
          </a:p>
          <a:p>
            <a:pPr marL="11430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Ответьте на вопрос: какие сезоны или недели имеют наибольшие объёмы продаж</a:t>
            </a:r>
          </a:p>
          <a:p>
            <a:r>
              <a:rPr lang="ru-RU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Исследуйте влияние макроэкономических факторов (CPI, </a:t>
            </a:r>
            <a:r>
              <a:rPr lang="ru-RU" dirty="0" err="1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Unemployment</a:t>
            </a:r>
            <a:r>
              <a:rPr lang="ru-RU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на продажи.</a:t>
            </a:r>
            <a:endParaRPr lang="en-US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AutoNum type="arabicPeriod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Постройте график для анализа связи между данными о продажах и этими показателями.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Ответьте на вопрос: какие факторы влияют на продажи сильнее?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074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az-Cyrl-AZ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Исследовательский анализ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az-Cyrl-AZ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Вопросы по кейсу:</a:t>
            </a:r>
            <a:endParaRPr lang="ru-RU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Оцените зависимость продаж от погодных условий и изменения цен на топливо в регионе.</a:t>
            </a:r>
            <a:endParaRPr lang="en-US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Создайте визуализацию, отражающую эту зависимость.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Ответьте на вопрос: как изменения погодных условий и стоимости топлива могут повлиять на продажи?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 основе анализа предложите рекомендации: как компании следует адаптировать стратегию продаж, учитывая внешние условия?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62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az-Cyrl-AZ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Исследовательский анализ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520600" cy="3892491"/>
          </a:xfrm>
        </p:spPr>
        <p:txBody>
          <a:bodyPr>
            <a:normAutofit fontScale="92500"/>
          </a:bodyPr>
          <a:lstStyle/>
          <a:p>
            <a:pPr marL="114300" indent="0">
              <a:buNone/>
            </a:pPr>
            <a:r>
              <a:rPr lang="az-Cyrl-AZ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ru-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Что делали и почему именно такой порядок действий выполняли?</a:t>
            </a:r>
            <a:endParaRPr lang="en-US" b="1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lang="ru-RU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Шаги действий по </a:t>
            </a:r>
            <a:r>
              <a:rPr lang="ru-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блоку вопросов:</a:t>
            </a:r>
          </a:p>
          <a:p>
            <a:pPr>
              <a:buFont typeface="+mj-lt"/>
              <a:buAutoNum type="arabicPeriod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Создал признак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(время года) для последующего анализа сезонности продаж.</a:t>
            </a:r>
          </a:p>
          <a:p>
            <a:pPr>
              <a:buFont typeface="+mj-lt"/>
              <a:buAutoNum type="arabicPeriod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Провёл группировку по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 рассчитал суммарные и средние продажи.</a:t>
            </a:r>
          </a:p>
          <a:p>
            <a:pPr>
              <a:buFont typeface="+mj-lt"/>
              <a:buAutoNum type="arabicPeriod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Создал столбчатые диаграммы для визуализации суммарных и средних продаж.</a:t>
            </a:r>
          </a:p>
          <a:p>
            <a:pPr marL="114300" indent="0"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Создал линейный график понедельных продаж по дате (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для визуального анализа динамики с 2010 по 2012 годы.</a:t>
            </a:r>
          </a:p>
          <a:p>
            <a:pPr marL="114300" indent="0"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</a:t>
            </a:r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Извлекл номер недели (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</a:t>
            </a:r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 рассчитал среднюю выручку по неделям календарного года (1–52) для выявления наиболее прибыльных недель.</a:t>
            </a:r>
          </a:p>
          <a:p>
            <a:pPr marL="114300" indent="0">
              <a:buNone/>
            </a:pPr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Порядок действий был логичным: Сначала подготовка признаков (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season, weak</a:t>
            </a:r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 Затем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агрегирование, анализ и визуализация данных.</a:t>
            </a:r>
          </a:p>
        </p:txBody>
      </p:sp>
    </p:spTree>
    <p:extLst>
      <p:ext uri="{BB962C8B-B14F-4D97-AF65-F5344CB8AC3E}">
        <p14:creationId xmlns:p14="http://schemas.microsoft.com/office/powerpoint/2010/main" val="2123118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az-Cyrl-AZ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Исследовательский анализ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az-Cyrl-AZ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ru-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Что делали и почему именно такой порядок действий выполняли?</a:t>
            </a:r>
          </a:p>
          <a:p>
            <a:pPr marL="114300" indent="0">
              <a:buNone/>
            </a:pPr>
            <a:r>
              <a:rPr lang="ru-RU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Шаги действий по </a:t>
            </a:r>
            <a:r>
              <a:rPr lang="ru-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блоку вопросов:</a:t>
            </a:r>
          </a:p>
          <a:p>
            <a:pPr>
              <a:buAutoNum type="arabicPeriod"/>
            </a:pPr>
            <a:r>
              <a:rPr lang="az-Cyrl-AZ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Построены два 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scatter plot</a:t>
            </a:r>
            <a:r>
              <a:rPr lang="ru-RU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диаграмм, чтобы визуально проанализировать взаимосвязь между продажами и каждым макроэкономическим фактором CPI и </a:t>
            </a:r>
            <a:r>
              <a:rPr lang="ru-RU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Unemployment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AutoNum type="arabicPeriod"/>
            </a:pPr>
            <a:r>
              <a:rPr lang="az-Cyrl-AZ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Добавлены линии линейной регрессии (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seaborn.regplot</a:t>
            </a:r>
            <a:r>
              <a:rPr lang="az-Cyrl-AZ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чтобы отследить общий тренд.</a:t>
            </a:r>
            <a:endParaRPr lang="ru-RU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AutoNum type="arabicPeriod"/>
            </a:pPr>
            <a:r>
              <a:rPr lang="ru-RU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Рассчитаны коэффициенты корреляции методом Пирсона, чтобы количественно оценить силу связи между переменными.</a:t>
            </a:r>
          </a:p>
        </p:txBody>
      </p:sp>
    </p:spTree>
    <p:extLst>
      <p:ext uri="{BB962C8B-B14F-4D97-AF65-F5344CB8AC3E}">
        <p14:creationId xmlns:p14="http://schemas.microsoft.com/office/powerpoint/2010/main" val="2133879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az-Cyrl-AZ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Исследовательский анализ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az-Cyrl-AZ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ru-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Что делали и почему именно такой порядок действий выполняли?</a:t>
            </a:r>
          </a:p>
          <a:p>
            <a:pPr marL="114300" indent="0">
              <a:buNone/>
            </a:pPr>
            <a:r>
              <a:rPr lang="ru-RU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Шаги действий по </a:t>
            </a:r>
            <a:r>
              <a:rPr lang="en-US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</a:t>
            </a:r>
            <a:r>
              <a:rPr lang="ru-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блоку вопросов:</a:t>
            </a:r>
          </a:p>
          <a:p>
            <a:pPr>
              <a:buFont typeface="+mj-lt"/>
              <a:buAutoNum type="arabicPeriod"/>
            </a:pPr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Построены две точечные диаграммы (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scatter plot</a:t>
            </a:r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 линиями линейной регрессии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Они позволяют визуально проанализировать влияния погодных условий и цен на топливо на продажи.</a:t>
            </a:r>
          </a:p>
          <a:p>
            <a:pPr>
              <a:buFont typeface="+mj-lt"/>
              <a:buAutoNum type="arabicPeriod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Это позволило визуально оценить форму зависимости.</a:t>
            </a:r>
          </a:p>
          <a:p>
            <a:pPr>
              <a:buFont typeface="+mj-lt"/>
              <a:buAutoNum type="arabicPeriod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Далее рассчитаны коэффициенты корреляции методом Пирсона (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чтобы 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количественно оценить силу связи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865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568089"/>
            <a:ext cx="7852200" cy="861000"/>
          </a:xfrm>
        </p:spPr>
        <p:txBody>
          <a:bodyPr>
            <a:normAutofit/>
          </a:bodyPr>
          <a:lstStyle/>
          <a:p>
            <a:pPr algn="l"/>
            <a:r>
              <a:rPr lang="az-Cyrl-AZ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Исследовательский анализ</a:t>
            </a: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4294967295"/>
          </p:nvPr>
        </p:nvSpPr>
        <p:spPr>
          <a:xfrm>
            <a:off x="623888" y="1357313"/>
            <a:ext cx="8520112" cy="3698875"/>
          </a:xfrm>
        </p:spPr>
        <p:txBody>
          <a:bodyPr>
            <a:normAutofit/>
          </a:bodyPr>
          <a:lstStyle/>
          <a:p>
            <a:pPr marL="114300" indent="0">
              <a:lnSpc>
                <a:spcPct val="105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ru" sz="16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Какой получили результат?</a:t>
            </a:r>
          </a:p>
          <a:p>
            <a:pPr marL="114300" indent="0">
              <a:lnSpc>
                <a:spcPct val="105000"/>
              </a:lnSpc>
              <a:buNone/>
            </a:pPr>
            <a:r>
              <a:rPr lang="ru-RU" sz="1600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Шаги действий по </a:t>
            </a:r>
            <a:r>
              <a:rPr lang="ru-RU" sz="16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блоку вопросов:</a:t>
            </a:r>
            <a:endParaRPr lang="ru" sz="1600" b="1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Признак 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«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»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добавлен, данные готовы к сезонному анализу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Лето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Summer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- лидер по общей выручке ($1.88 млрд)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Зима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Winter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- лидер по средней недельной продаже (~$1.09 млн)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Весна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Spring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- самая низкая средняя неделя по продажам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Праздничные недели приносят 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 7.84% больше продаж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чем обычные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График понедельных продаж показал резкие всплески в праздничные периоды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Недели 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47–52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периоды с максимальной средней выручкой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092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az-Cyrl-AZ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Исследовательский анализ</a:t>
            </a: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ru-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Какой получили результат?</a:t>
            </a:r>
            <a:endParaRPr lang="ru-RU" b="1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lang="ru-RU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Шаги действий по </a:t>
            </a:r>
            <a:r>
              <a:rPr lang="ru-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блоку вопросов: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CPI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показывает 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очень слабую обратную связь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с продажами (- 0.07)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Безработица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влияет 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чуть сильнее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с коэффициентом - 0.11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Вывод: продажи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немного снижаются при ухудшении макроэкономических условий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но сохраняют 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устойчивость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на фоне изменений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b="1" dirty="0">
              <a:solidFill>
                <a:schemeClr val="accent5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8438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az-Cyrl-AZ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Исследовательский анализ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684816" cy="3416400"/>
          </a:xfrm>
        </p:spPr>
        <p:txBody>
          <a:bodyPr/>
          <a:lstStyle/>
          <a:p>
            <a:pPr marL="114300" indent="0">
              <a:buNone/>
            </a:pPr>
            <a:r>
              <a:rPr lang="ru-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Какой получили результат?</a:t>
            </a:r>
            <a:endParaRPr lang="ru-RU" b="1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lang="ru-RU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Шаги действий по </a:t>
            </a:r>
            <a:r>
              <a:rPr lang="en-US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ru-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блоку вопросов:</a:t>
            </a:r>
            <a:endParaRPr lang="en-US" b="1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Temperature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показывает очень слабую обратную связь с продажами. </a:t>
            </a:r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Коэффициент корреляции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0.07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Fuel_price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показывают почти нулевую связь - продажи не зависят от цен на топливо. </a:t>
            </a:r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Коэффициент корреляции = +0.01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az-Cyrl-AZ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Итог: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Температура и цены на топливо 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 оказывают значимого влияния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на продажи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6721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66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Бизнес-вопрос (требующие от вас каких-то рекомендаций или размышлений)</a:t>
            </a:r>
            <a:endParaRPr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1"/>
          </p:nvPr>
        </p:nvSpPr>
        <p:spPr>
          <a:xfrm>
            <a:off x="311700" y="1430425"/>
            <a:ext cx="8520600" cy="31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Вопросы по кейсу</a:t>
            </a:r>
            <a:endParaRPr b="1" dirty="0">
              <a:solidFill>
                <a:schemeClr val="accent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Что делали и почему именно такой порядок действий выполняли</a:t>
            </a:r>
            <a:endParaRPr b="1" dirty="0">
              <a:solidFill>
                <a:schemeClr val="accent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Какой получили результат</a:t>
            </a:r>
            <a:endParaRPr b="1" dirty="0">
              <a:solidFill>
                <a:schemeClr val="accent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Визуализация</a:t>
            </a:r>
            <a:endParaRPr b="1" dirty="0">
              <a:solidFill>
                <a:schemeClr val="accent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Бизнес-вопросы</a:t>
            </a: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11700" y="1017725"/>
            <a:ext cx="8520600" cy="3943158"/>
          </a:xfrm>
        </p:spPr>
        <p:txBody>
          <a:bodyPr>
            <a:normAutofit lnSpcReduction="10000"/>
          </a:bodyPr>
          <a:lstStyle/>
          <a:p>
            <a:pPr marL="11430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az-Cyrl-AZ" sz="16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Вопросы по кейсу:</a:t>
            </a:r>
          </a:p>
          <a:p>
            <a:pPr marL="114300" indent="0">
              <a:lnSpc>
                <a:spcPct val="105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блок вопросов:</a:t>
            </a:r>
            <a:endParaRPr lang="az-Cyrl-AZ" sz="1600" b="1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Когда </a:t>
            </a:r>
            <a:r>
              <a:rPr lang="ru-RU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</a:t>
            </a: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получает наибольшую выручку в течение года?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Какие периоды нужно учитывать при планировании маркетинга и логистики?</a:t>
            </a:r>
          </a:p>
          <a:p>
            <a:pPr marL="114300" indent="0">
              <a:buNone/>
            </a:pPr>
            <a:r>
              <a:rPr lang="ru-RU" sz="16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блок вопросов: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Как макроэкономические условия (инфляция и безработица) влияют на поведение покупателей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Какие из этих факторов требуют внимания со стороны бизнеса?</a:t>
            </a:r>
          </a:p>
          <a:p>
            <a:pPr marL="114300" indent="0">
              <a:buNone/>
            </a:pPr>
            <a:r>
              <a:rPr lang="ru-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блок вопросов: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Как изменения погодных условий и стоимости топлива могут повлиять на продажи?</a:t>
            </a:r>
          </a:p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Как компании следует адаптировать стратегию продаж, учитывая эти внешние условия?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411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Бизнес-вопросы</a:t>
            </a: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ru-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Что делали и почему именно такой порядок действий выполняли:</a:t>
            </a:r>
          </a:p>
          <a:p>
            <a:pPr marL="114300" indent="0">
              <a:buNone/>
            </a:pPr>
            <a:r>
              <a:rPr lang="ru-RU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Шаги действий по </a:t>
            </a:r>
            <a:r>
              <a:rPr lang="ru-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блоку вопросов:</a:t>
            </a:r>
          </a:p>
          <a:p>
            <a:pPr>
              <a:buAutoNum type="arabicPeriod"/>
            </a:pPr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Группировал данные по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holiday_flag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, чтобы сравнить праздничные и обычные недели.</a:t>
            </a:r>
          </a:p>
          <a:p>
            <a:pPr>
              <a:buAutoNum type="arabicPeriod"/>
            </a:pPr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Создал признак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 проанализировал средние и суммарные продажи по сезонам.</a:t>
            </a:r>
          </a:p>
          <a:p>
            <a:pPr>
              <a:buAutoNum type="arabicPeriod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Извлёк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из даты и провел анализ средних продаж по неделям календарного года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AutoNum type="arabicPeriod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Визуализировал все ключевые показатели для наглядности и выявления закономерностей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14300" indent="0"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Такой порядок действий позволил мне охватить как краткосрочные эффекты (недели и праздники), так и долгосрочные (сезоны).</a:t>
            </a:r>
            <a:endParaRPr lang="az-Cyrl-AZ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566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Бизнес-вопросы</a:t>
            </a: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ru-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Что делали и почему именно такой порядок действий выполняли:</a:t>
            </a:r>
          </a:p>
          <a:p>
            <a:pPr marL="114300" indent="0">
              <a:buNone/>
            </a:pPr>
            <a:r>
              <a:rPr lang="ru-RU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Шаги действий по </a:t>
            </a:r>
            <a:r>
              <a:rPr lang="ru-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блоку вопросов:</a:t>
            </a:r>
          </a:p>
          <a:p>
            <a:pPr>
              <a:buFont typeface="+mj-lt"/>
              <a:buAutoNum type="arabicPeriod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Сначала проведён визуальный анализ зависимости продаж от CPI и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Unemployment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через точечные диаграммы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(scatter plot)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Добавлены линии тренда, чтобы понять направление влияния.</a:t>
            </a:r>
          </a:p>
          <a:p>
            <a:pPr>
              <a:buFont typeface="+mj-lt"/>
              <a:buAutoNum type="arabicPeriod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Затем рассчитаны коэффициенты корреляции, чтобы численно подтвердить силу или слабость связи.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4524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Бизнес-вопросы</a:t>
            </a: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ru-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Что делали и почему именно такой порядок действий выполняли:</a:t>
            </a:r>
          </a:p>
          <a:p>
            <a:pPr marL="114300" indent="0">
              <a:buNone/>
            </a:pPr>
            <a:r>
              <a:rPr lang="ru-RU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Шаги действий по </a:t>
            </a:r>
            <a:r>
              <a:rPr lang="ru-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блоку вопросов:</a:t>
            </a:r>
          </a:p>
          <a:p>
            <a:pPr>
              <a:buFont typeface="+mj-lt"/>
              <a:buAutoNum type="arabicPeriod"/>
            </a:pPr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Выполнен визуальный анализ (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scatter plot +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линейный тренд</a:t>
            </a:r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для выявления зависимости продаж от температуры и цен на топливо.</a:t>
            </a:r>
          </a:p>
          <a:p>
            <a:pPr>
              <a:buFont typeface="+mj-lt"/>
              <a:buAutoNum type="arabicPeriod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Далее рассчитаны коэффициенты корреляции для численного подтверждения слабой связи.</a:t>
            </a:r>
          </a:p>
          <a:p>
            <a:pPr>
              <a:buFont typeface="+mj-lt"/>
              <a:buAutoNum type="arabicPeriod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 основании слабой связи сделаны выводы об устойчивости спроса.</a:t>
            </a:r>
          </a:p>
        </p:txBody>
      </p:sp>
    </p:spTree>
    <p:extLst>
      <p:ext uri="{BB962C8B-B14F-4D97-AF65-F5344CB8AC3E}">
        <p14:creationId xmlns:p14="http://schemas.microsoft.com/office/powerpoint/2010/main" val="3635967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Бизнес-вопросы</a:t>
            </a: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114300" indent="0">
              <a:lnSpc>
                <a:spcPct val="105000"/>
              </a:lnSpc>
              <a:buNone/>
            </a:pPr>
            <a:r>
              <a:rPr lang="ru-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Какой получили результат:</a:t>
            </a:r>
          </a:p>
          <a:p>
            <a:pPr marL="114300" indent="0">
              <a:lnSpc>
                <a:spcPct val="105000"/>
              </a:lnSpc>
              <a:buNone/>
            </a:pPr>
            <a:r>
              <a:rPr lang="ru-RU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Шаги действий по </a:t>
            </a:r>
            <a:r>
              <a:rPr lang="ru-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блоку вопросов:</a:t>
            </a:r>
            <a:endParaRPr lang="ru" b="1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Праздничные недели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holiday_flag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1) приносят 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 среднем на 7.84% больше выручки. </a:t>
            </a:r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Формула прироста в процентах: Разница % = (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holiday_sales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−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non_holiday_sales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)/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non_holiday_sales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× 100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Недели 47-52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периоды пиковых продаж (конец ноября, декабрь, февраль).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Зима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наиболее интенсивный сезон по средней недельной выручке.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Лето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лидер по суммарной выручке (более $1.88 млрд).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Осень и весна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периоды сниженного спроса.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b="1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lang="ru-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Визуализация: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678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Бизнес-вопросы</a:t>
            </a: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14300" indent="0">
              <a:lnSpc>
                <a:spcPct val="105000"/>
              </a:lnSpc>
              <a:buNone/>
            </a:pPr>
            <a:r>
              <a:rPr lang="ru-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Какой получили результат:</a:t>
            </a:r>
          </a:p>
          <a:p>
            <a:pPr marL="114300" indent="0">
              <a:lnSpc>
                <a:spcPct val="105000"/>
              </a:lnSpc>
              <a:buNone/>
            </a:pPr>
            <a:r>
              <a:rPr lang="ru-RU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Шаги действий по </a:t>
            </a:r>
            <a:r>
              <a:rPr lang="ru-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блоку вопросов:</a:t>
            </a:r>
            <a:endParaRPr lang="ru" b="1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CPI (индекс потребительских цен) имеет слабую обратную связь с продажами: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Коэффициент корреляции: - 0.07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az-Cyrl-AZ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Линия тренда на графике почти горизонтальна:</a:t>
            </a:r>
          </a:p>
          <a:p>
            <a:pPr marL="114300" indent="0"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Это говорит о том, что инфляция почти не влияет на спрос -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сохраняет продажи при росте цен.</a:t>
            </a:r>
          </a:p>
          <a:p>
            <a:pPr marL="114300" indent="0"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Unemployment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(уровень безработицы) оказывает чуть более выраженное влияние: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Коэффициент корреляции: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0.11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Линия тренда направлена вниз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2719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Бизнес-вопросы</a:t>
            </a: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	</a:t>
            </a:r>
            <a:r>
              <a:rPr lang="ru-RU" dirty="0"/>
              <a:t> Это означает: при росте безработицы продажи </a:t>
            </a:r>
            <a:r>
              <a:rPr lang="ru-RU" b="1" dirty="0"/>
              <a:t>слабо снижаются</a:t>
            </a:r>
            <a:r>
              <a:rPr lang="ru-RU" dirty="0"/>
              <a:t>, что логично </a:t>
            </a:r>
            <a:r>
              <a:rPr lang="en-US" dirty="0"/>
              <a:t>-</a:t>
            </a:r>
            <a:r>
              <a:rPr lang="ru-RU" dirty="0"/>
              <a:t> снижение доходов ведёт к сокращению расходов</a:t>
            </a:r>
            <a:r>
              <a:rPr lang="en-US" dirty="0"/>
              <a:t>.</a:t>
            </a:r>
          </a:p>
          <a:p>
            <a:pPr marL="114300" indent="0">
              <a:buNone/>
            </a:pPr>
            <a:r>
              <a:rPr lang="en-US" dirty="0"/>
              <a:t>3. </a:t>
            </a:r>
            <a:r>
              <a:rPr lang="ru-RU" dirty="0"/>
              <a:t>Оба макроэкономических фактора демонстрируют </a:t>
            </a:r>
            <a:r>
              <a:rPr lang="ru-RU" b="1" dirty="0"/>
              <a:t>слабую корреляцию с продажами</a:t>
            </a:r>
            <a:r>
              <a:rPr lang="ru-RU" dirty="0"/>
              <a:t>, что говорит о </a:t>
            </a:r>
            <a:r>
              <a:rPr lang="ru-RU" b="1" dirty="0"/>
              <a:t>высокой устойчивости </a:t>
            </a:r>
            <a:r>
              <a:rPr lang="ru-RU" b="1" dirty="0" err="1"/>
              <a:t>Walmart</a:t>
            </a:r>
            <a:r>
              <a:rPr lang="ru-RU" dirty="0"/>
              <a:t> к экономическим колебаниям</a:t>
            </a:r>
            <a:r>
              <a:rPr lang="en-US" dirty="0"/>
              <a:t>.</a:t>
            </a:r>
            <a:endParaRPr lang="ru-RU" dirty="0"/>
          </a:p>
          <a:p>
            <a:pPr marL="114300" indent="0">
              <a:buNone/>
            </a:pPr>
            <a:r>
              <a:rPr lang="ru-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Визуализация: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201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Бизнес-вопросы</a:t>
            </a: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32480"/>
          </a:xfrm>
        </p:spPr>
        <p:txBody>
          <a:bodyPr>
            <a:normAutofit fontScale="92500"/>
          </a:bodyPr>
          <a:lstStyle/>
          <a:p>
            <a:pPr marL="114300" indent="0">
              <a:lnSpc>
                <a:spcPct val="105000"/>
              </a:lnSpc>
              <a:buNone/>
            </a:pPr>
            <a:r>
              <a:rPr lang="ru-RU" sz="19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ru" sz="19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Какой получили результат:</a:t>
            </a:r>
          </a:p>
          <a:p>
            <a:pPr marL="114300" indent="0">
              <a:lnSpc>
                <a:spcPct val="105000"/>
              </a:lnSpc>
              <a:buNone/>
            </a:pPr>
            <a:r>
              <a:rPr lang="ru-RU" sz="1900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Шаги действий по </a:t>
            </a:r>
            <a:r>
              <a:rPr lang="ru-RU" sz="19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блоку вопросов:</a:t>
            </a:r>
          </a:p>
          <a:p>
            <a:pPr>
              <a:lnSpc>
                <a:spcPct val="105000"/>
              </a:lnSpc>
              <a:buFont typeface="+mj-lt"/>
              <a:buAutoNum type="arabicPeriod"/>
            </a:pPr>
            <a:r>
              <a:rPr lang="ru-RU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Продажи </a:t>
            </a:r>
            <a:r>
              <a:rPr lang="ru-RU" sz="1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</a:t>
            </a:r>
            <a:r>
              <a:rPr lang="ru-RU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не зависят от температуры (−0.06) и цен на топливо (+0.01).</a:t>
            </a:r>
          </a:p>
          <a:p>
            <a:pPr>
              <a:lnSpc>
                <a:spcPct val="105000"/>
              </a:lnSpc>
              <a:buFont typeface="+mj-lt"/>
              <a:buAutoNum type="arabicPeriod"/>
            </a:pPr>
            <a:r>
              <a:rPr lang="ru-RU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Это указывает на высокую стабильность покупательского спроса.</a:t>
            </a:r>
          </a:p>
          <a:p>
            <a:pPr>
              <a:lnSpc>
                <a:spcPct val="105000"/>
              </a:lnSpc>
              <a:buFont typeface="+mj-lt"/>
              <a:buAutoNum type="arabicPeriod"/>
            </a:pPr>
            <a:r>
              <a:rPr lang="ru-RU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Покупатели продолжают приобретать товары вне зависимости от климата и рыночной цены на топливо.</a:t>
            </a:r>
          </a:p>
          <a:p>
            <a:pPr marL="114300" indent="0">
              <a:buNone/>
            </a:pPr>
            <a:r>
              <a:rPr lang="ru-RU" sz="19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Рекомендации:</a:t>
            </a:r>
          </a:p>
          <a:p>
            <a:r>
              <a:rPr lang="ru-RU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Компания может не учитывать погодные и топливные колебания при краткосрочном планировании.</a:t>
            </a:r>
          </a:p>
          <a:p>
            <a:r>
              <a:rPr lang="ru-RU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Вместо этого — сосредоточиться на сезонных, праздничных, и поведенческих паттернах покупателей.</a:t>
            </a:r>
          </a:p>
          <a:p>
            <a:pPr marL="114300" indent="0">
              <a:lnSpc>
                <a:spcPct val="105000"/>
              </a:lnSpc>
              <a:buNone/>
            </a:pPr>
            <a:r>
              <a:rPr lang="ru-RU" sz="19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Визуализация:</a:t>
            </a:r>
            <a:endParaRPr lang="ru-RU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lnSpc>
                <a:spcPct val="105000"/>
              </a:lnSpc>
              <a:buNone/>
            </a:pPr>
            <a:endParaRPr lang="ru" dirty="0"/>
          </a:p>
        </p:txBody>
      </p:sp>
    </p:spTree>
    <p:extLst>
      <p:ext uri="{BB962C8B-B14F-4D97-AF65-F5344CB8AC3E}">
        <p14:creationId xmlns:p14="http://schemas.microsoft.com/office/powerpoint/2010/main" val="3387540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49" y="88490"/>
            <a:ext cx="8621901" cy="498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82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49" y="68826"/>
            <a:ext cx="8621901" cy="500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1923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49" y="68826"/>
            <a:ext cx="8621901" cy="500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7262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720"/>
            <a:ext cx="9144000" cy="388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8541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7578"/>
            <a:ext cx="9144000" cy="376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4182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1175"/>
            <a:ext cx="9144000" cy="4521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4291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1175"/>
            <a:ext cx="9144000" cy="4521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3765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8841"/>
            <a:ext cx="9144000" cy="452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624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8841"/>
            <a:ext cx="9144000" cy="452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5320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Заключение и рекомендации</a:t>
            </a:r>
            <a:endParaRPr dirty="0"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dirty="0"/>
              <a:t>Подведите итоги – какой главный вопрос (или вопросы) вам задали и какие ответы вы получили. Если вы можете дать рекомендации на основе проведенного анализа – опишите их здесь.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Заключение и рекомендации</a:t>
            </a: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520600" cy="3871809"/>
          </a:xfrm>
        </p:spPr>
        <p:txBody>
          <a:bodyPr>
            <a:normAutofit/>
          </a:bodyPr>
          <a:lstStyle/>
          <a:p>
            <a:r>
              <a:rPr lang="az-Cyrl-AZ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Основные бизнес-вопросы:</a:t>
            </a:r>
          </a:p>
          <a:p>
            <a:pPr lvl="1"/>
            <a:r>
              <a:rPr lang="az-Cyrl-AZ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Каковы ключевые факторы, влияющие на недельные 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weekly_sales</a:t>
            </a:r>
            <a:r>
              <a:rPr lang="az-Cyrl-AZ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продажи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lvl="1"/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Как они меняются в зависимости от:</a:t>
            </a:r>
          </a:p>
          <a:p>
            <a:pPr lvl="2"/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Времени года и праздничных недель.</a:t>
            </a:r>
          </a:p>
          <a:p>
            <a:pPr lvl="2"/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Макроэкономических факторов.</a:t>
            </a:r>
          </a:p>
          <a:p>
            <a:pPr lvl="2"/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Погодных условий и цен на топливо.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Основные выводы по результатам анализа:</a:t>
            </a:r>
            <a:endParaRPr lang="en-US" b="1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Сезонность и праздники: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Праздничные недели (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holiday_flag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1) приносят в среднем на 7.84% больше выручки.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2955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700" y="130393"/>
            <a:ext cx="8520600" cy="572700"/>
          </a:xfrm>
        </p:spPr>
        <p:txBody>
          <a:bodyPr>
            <a:noAutofit/>
          </a:bodyPr>
          <a:lstStyle/>
          <a:p>
            <a:r>
              <a:rPr lang="ru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Заключение и рекомендации</a:t>
            </a:r>
            <a:endParaRPr lang="en-US" sz="28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11700" y="806245"/>
            <a:ext cx="8520600" cy="4257368"/>
          </a:xfrm>
        </p:spPr>
        <p:txBody>
          <a:bodyPr>
            <a:normAutofit lnSpcReduction="10000"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Недели 47–52 и 6-я неделя демонстрируют пиковые продажи (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Black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Friday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 Новый год).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Зима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лидер по средней недельной выручке.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Лето - лидер по суммарной выручке (более $1.88 млрд).</a:t>
            </a:r>
          </a:p>
          <a:p>
            <a:pPr marL="114300" indent="0"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Макроэкономические факторы:</a:t>
            </a:r>
          </a:p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CPI: корреляция с продажами -0.07.</a:t>
            </a:r>
          </a:p>
          <a:p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Безработица: корреляция -0.11.</a:t>
            </a:r>
          </a:p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Оба фактора имеют слабую обратную связь,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демонстрирует устойчивость.</a:t>
            </a:r>
          </a:p>
          <a:p>
            <a:pPr marL="114300" indent="0"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Погодные условия и топливо:</a:t>
            </a:r>
          </a:p>
          <a:p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Температура: корреляция −0.06.</a:t>
            </a:r>
          </a:p>
          <a:p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Цена топлива: корреляция +0.01.</a:t>
            </a:r>
          </a:p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Связь незначительная, спрос сохраняется вне зависимости от внешней среды.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7105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Заключение и рекомендации</a:t>
            </a:r>
            <a:endParaRPr lang="en-US" sz="28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az-Cyrl-AZ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Рекомендации для бизнеса:</a:t>
            </a:r>
          </a:p>
          <a:p>
            <a:pPr lvl="1">
              <a:buSzPts val="1800"/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Сфокусироваться на неделях с высоким потенциалом продаж (47–52, февраль):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SzPts val="1800"/>
            </a:pPr>
            <a:r>
              <a:rPr lang="az-Cyrl-AZ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Увеличивать товарные запасы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 эти периоды</a:t>
            </a:r>
          </a:p>
          <a:p>
            <a:pPr lvl="1">
              <a:buSzPts val="1800"/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Увеличить активность </a:t>
            </a:r>
            <a:r>
              <a:rPr lang="az-Cyrl-AZ" sz="1800" dirty="0"/>
              <a:t>маркетинговыч кампаний заранее.</a:t>
            </a:r>
          </a:p>
          <a:p>
            <a:pPr lvl="1">
              <a:buSzPts val="1800"/>
            </a:pPr>
            <a:r>
              <a:rPr lang="az-Cyrl-AZ" sz="1800" dirty="0"/>
              <a:t>Усиливать логистику и персонал.</a:t>
            </a:r>
          </a:p>
          <a:p>
            <a:pPr marL="482600"/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Использовать сезонность и праздничные циклы как главные параметры, а не макроэкономические и климатические переменные.</a:t>
            </a:r>
          </a:p>
          <a:p>
            <a:pPr marL="482600"/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 включать погодные и топливные параметры как ключевые в краткосрочные прогнозы - они не дают значимого эффекта.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SzPts val="1800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0721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Заключение и рекомендации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Итог:</a:t>
            </a:r>
          </a:p>
          <a:p>
            <a:pPr lvl="1">
              <a:buSzPts val="1800"/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Мой анализ подтверждает что: </a:t>
            </a:r>
          </a:p>
          <a:p>
            <a:pPr lvl="2">
              <a:buSzPts val="1800"/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ключевыми параметрами продаж </a:t>
            </a:r>
            <a:r>
              <a:rPr lang="ru-RU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являются сезонность и праздники, а не экономика или погода. Это позволяет бизнесу точнее планировать ресурсы и усилия в периоды повышенного спроса.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2624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Ваши вопросы по кейсу и рефлексия</a:t>
            </a:r>
            <a:endParaRPr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Место для вашей рефлексии. Расскажите, каково вам было решать это задание, возможно, вы узнали что-то интересное или долго думали над задачей. Если вам не хватило каких-то данных или возникли сложности в процессе решения, опишите их здесь.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Ваши вопросы по кейсу и рефлексия</a:t>
            </a:r>
            <a:endParaRPr lang="en-US" sz="28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520600" cy="3871809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Работа над этим аналитическим проектом была одновременно интересной и местами непростой. Я ещё глубже познакомился с нюансами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(особенно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pandas,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matplotlib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seaborn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и системно подходить к решению задач: от предобработки до визуализации и </a:t>
            </a:r>
            <a:r>
              <a:rPr lang="az-Cyrl-AZ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интерпретации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данных.</a:t>
            </a:r>
          </a:p>
          <a:p>
            <a:pPr marL="114300" indent="0">
              <a:buNone/>
            </a:pPr>
            <a:r>
              <a:rPr lang="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Сложности в процессе решения:</a:t>
            </a:r>
            <a:endParaRPr lang="ru-RU" b="1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Формулировать свои мысли и разделять их для исследовательского анализа и бизнес-вопросов было немного затруднительно.</a:t>
            </a:r>
          </a:p>
          <a:p>
            <a:pPr marL="114300" indent="0"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Этот момент стал для меня полезным вызовом, потому что в реальной работе аналитика умение ясно доносить выводы для бизнеса - ключевой навык.</a:t>
            </a:r>
          </a:p>
          <a:p>
            <a:pPr marL="114300" indent="0"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Было особенно на мой взгляд полезно: </a:t>
            </a:r>
          </a:p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Создание новых признаков (например,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Применение группировок, агрегирования и визуального анализа.</a:t>
            </a:r>
          </a:p>
        </p:txBody>
      </p:sp>
    </p:spTree>
    <p:extLst>
      <p:ext uri="{BB962C8B-B14F-4D97-AF65-F5344CB8AC3E}">
        <p14:creationId xmlns:p14="http://schemas.microsoft.com/office/powerpoint/2010/main" val="14938348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Ваши вопросы по кейсу и рефлексия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52144"/>
          </a:xfrm>
        </p:spPr>
        <p:txBody>
          <a:bodyPr>
            <a:normAutofit lnSpcReduction="10000"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Построение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scatter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plot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ов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с линией тренда и вычисление коэффициентов корреляции для анализа зависимости между продажами и внешними факторами (такими как CPI, температура, цена на топливо и безработица).</a:t>
            </a:r>
            <a:endParaRPr lang="ru-RU" b="1" dirty="0">
              <a:solidFill>
                <a:schemeClr val="accent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lang="ru-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Что вызвало у меня затруднения при решения задач:</a:t>
            </a:r>
          </a:p>
          <a:p>
            <a:pPr marL="114300" indent="0"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 процессе визуализации зависимости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CPI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оказалось, что в диапазоне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CPI (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150 - 185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точки не отображаются на графике, хотя строки с такими значениями в таблице есть.</a:t>
            </a:r>
          </a:p>
          <a:p>
            <a:pPr marL="114300" indent="0">
              <a:buNone/>
            </a:pPr>
            <a:r>
              <a:rPr lang="ru-RU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Выводы:</a:t>
            </a:r>
          </a:p>
          <a:p>
            <a:pPr marL="114300" indent="0"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Такие моменты научили меня не доверять слепо графикам, а проверять данные через фильтрацию и метод статистического анализа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.describe().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Эта работа была очень ценной для меня и показала мне, как аналитика помогает бизнесу принимать решения. </a:t>
            </a:r>
          </a:p>
          <a:p>
            <a:pPr marL="11430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400776"/>
      </p:ext>
    </p:extLst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6893</TotalTime>
  <Words>2330</Words>
  <Application>Microsoft Office PowerPoint</Application>
  <PresentationFormat>On-screen Show (16:9)</PresentationFormat>
  <Paragraphs>255</Paragraphs>
  <Slides>42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Slate</vt:lpstr>
      <vt:lpstr>Кейс № 2. Walmart Sales</vt:lpstr>
      <vt:lpstr>Контекст кейса</vt:lpstr>
      <vt:lpstr>Задачи, которые вы решали</vt:lpstr>
      <vt:lpstr>Подготовка данных </vt:lpstr>
      <vt:lpstr>2. Данные из walmart_sales.csv были успешно импортированы в таблицу cleaned_walmart_sales. 3. В таблице добавлено поле id SERIAL PRIMARY KEY для feature engineering в дальнейшей обработке в Pandas. 4. Таблица приведена к первой и второй нормальным формам (1NF, 2NF): все значения атомарны, зависимости от составных ключей отсутствуют. 5. Выполнена проверка на дубликаты по полям store и date. В случае наличия – дубликаты удалены с сохранением уникальности данных, чтобы избежать искажения при аналитике и визуализации. </vt:lpstr>
      <vt:lpstr>PowerPoint Presentation</vt:lpstr>
      <vt:lpstr>PowerPoint Presentation</vt:lpstr>
      <vt:lpstr>Исследовательский анализ</vt:lpstr>
      <vt:lpstr>Исследовательский анализ</vt:lpstr>
      <vt:lpstr>Исследовательский анализ</vt:lpstr>
      <vt:lpstr>Исследовательский анализ</vt:lpstr>
      <vt:lpstr>Исследовательский анализ</vt:lpstr>
      <vt:lpstr>Исследовательский анализ</vt:lpstr>
      <vt:lpstr>Исследовательский анализ</vt:lpstr>
      <vt:lpstr>Исследовательский анализ</vt:lpstr>
      <vt:lpstr>Исследовательский анализ</vt:lpstr>
      <vt:lpstr>Бизнес-вопрос (требующие от вас каких-то рекомендаций или размышлений)</vt:lpstr>
      <vt:lpstr>Бизнес-вопросы</vt:lpstr>
      <vt:lpstr>Бизнес-вопросы</vt:lpstr>
      <vt:lpstr>Бизнес-вопросы</vt:lpstr>
      <vt:lpstr>Бизнес-вопросы</vt:lpstr>
      <vt:lpstr>Бизнес-вопросы</vt:lpstr>
      <vt:lpstr>Бизнес-вопросы</vt:lpstr>
      <vt:lpstr>Бизнес-вопросы</vt:lpstr>
      <vt:lpstr>Бизнес-вопросы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Заключение и рекомендации</vt:lpstr>
      <vt:lpstr>Заключение и рекомендации</vt:lpstr>
      <vt:lpstr>Заключение и рекомендации</vt:lpstr>
      <vt:lpstr>Заключение и рекомендации</vt:lpstr>
      <vt:lpstr>Заключение и рекомендации</vt:lpstr>
      <vt:lpstr>Ваши вопросы по кейсу и рефлексия</vt:lpstr>
      <vt:lpstr>Ваши вопросы по кейсу и рефлексия</vt:lpstr>
      <vt:lpstr>Ваши вопросы по кейсу и рефлексия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Кейс № 2. Walmart Sales  – Диёр Исамухамедов.</dc:title>
  <cp:lastModifiedBy>Apollo Z</cp:lastModifiedBy>
  <cp:revision>94</cp:revision>
  <dcterms:modified xsi:type="dcterms:W3CDTF">2026-02-08T05:54:49Z</dcterms:modified>
</cp:coreProperties>
</file>